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2635090a6a4e7f" /><Relationship Type="http://schemas.openxmlformats.org/officeDocument/2006/relationships/extended-properties" Target="/docProps/app.xml" Id="Rcae9039cd7074f5d" /><Relationship Type="http://schemas.openxmlformats.org/officeDocument/2006/relationships/officeDocument" Target="/ppt/presentation.xml" Id="R58449a9d3dd142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79e3b3dc114a40"/>
  </p:sldMasterIdLst>
  <p:notesMasterIdLst>
    <p:notesMasterId xmlns:r="http://schemas.openxmlformats.org/officeDocument/2006/relationships" r:id="R74aca4d70cec4976"/>
  </p:notesMasterIdLst>
  <p:sldIdLst>
    <p:sldId xmlns:r="http://schemas.openxmlformats.org/officeDocument/2006/relationships" id="256" r:id="Ref54d8b98a9d40cf"/>
    <p:sldId xmlns:r="http://schemas.openxmlformats.org/officeDocument/2006/relationships" id="257" r:id="R6c791b202f2c4294"/>
    <p:sldId xmlns:r="http://schemas.openxmlformats.org/officeDocument/2006/relationships" id="258" r:id="R250d49e91b3a4d7c"/>
    <p:sldId xmlns:r="http://schemas.openxmlformats.org/officeDocument/2006/relationships" id="259" r:id="Rdeb3b1b63bc74138"/>
    <p:sldId xmlns:r="http://schemas.openxmlformats.org/officeDocument/2006/relationships" id="260" r:id="R1557e82a4a1f4a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ddebcb53be4fd4" /><Relationship Type="http://schemas.openxmlformats.org/officeDocument/2006/relationships/slideMaster" Target="/ppt/slideMasters/slideMaster1.xml" Id="R8e79e3b3dc114a40" /><Relationship Type="http://schemas.openxmlformats.org/officeDocument/2006/relationships/notesMaster" Target="/ppt/notesMasters/notesMaster1.xml" Id="R74aca4d70cec4976" /><Relationship Type="http://schemas.openxmlformats.org/officeDocument/2006/relationships/presProps" Target="/ppt/presProps.xml" Id="R4bb91297c7894fc8" /><Relationship Type="http://schemas.openxmlformats.org/officeDocument/2006/relationships/tableStyles" Target="/ppt/tableStyles.xml" Id="Ra022159e80414284" /><Relationship Type="http://schemas.openxmlformats.org/officeDocument/2006/relationships/slide" Target="/ppt/slides/slide1.xml" Id="Ref54d8b98a9d40cf" /><Relationship Type="http://schemas.openxmlformats.org/officeDocument/2006/relationships/slide" Target="/ppt/slides/slide2.xml" Id="R6c791b202f2c4294" /><Relationship Type="http://schemas.openxmlformats.org/officeDocument/2006/relationships/slide" Target="/ppt/slides/slide3.xml" Id="R250d49e91b3a4d7c" /><Relationship Type="http://schemas.openxmlformats.org/officeDocument/2006/relationships/slide" Target="/ppt/slides/slide4.xml" Id="Rdeb3b1b63bc74138" /><Relationship Type="http://schemas.openxmlformats.org/officeDocument/2006/relationships/slide" Target="/ppt/slides/slide5.xml" Id="R1557e82a4a1f4a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768832452a41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875ffd0b2e4ac7" /><Relationship Type="http://schemas.openxmlformats.org/officeDocument/2006/relationships/notesMaster" Target="/ppt/notesMasters/notesMaster1.xml" Id="R92f0ed9d4ed540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773e4680604171" /><Relationship Type="http://schemas.openxmlformats.org/officeDocument/2006/relationships/notesMaster" Target="/ppt/notesMasters/notesMaster1.xml" Id="Rbc14d564f81a47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7f579ce5df4a5b" /><Relationship Type="http://schemas.openxmlformats.org/officeDocument/2006/relationships/notesMaster" Target="/ppt/notesMasters/notesMaster1.xml" Id="R35c75a1e90dd4a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b696bc42bb4122" /><Relationship Type="http://schemas.openxmlformats.org/officeDocument/2006/relationships/notesMaster" Target="/ppt/notesMasters/notesMaster1.xml" Id="R8a4875ae1f3a4b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776f7847d44f74" /><Relationship Type="http://schemas.openxmlformats.org/officeDocument/2006/relationships/notesMaster" Target="/ppt/notesMasters/notesMaster1.xml" Id="Ra2e89767a5af4f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cae083cc0e4b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008b969ebb46dc" /><Relationship Type="http://schemas.openxmlformats.org/officeDocument/2006/relationships/slideLayout" Target="/ppt/slideLayouts/slideLayout1.xml" Id="R2dca0fcb8a8e45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ca0fcb8a8e45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bd88ca9dd4fc7" /><Relationship Type="http://schemas.openxmlformats.org/officeDocument/2006/relationships/notesSlide" Target="/ppt/notesSlides/notesSlide1.xml" Id="Rd95b5c5166944a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2591a0dbc444d" /><Relationship Type="http://schemas.openxmlformats.org/officeDocument/2006/relationships/notesSlide" Target="/ppt/notesSlides/notesSlide2.xml" Id="R08592d144b3943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66cecd0ba4346" /><Relationship Type="http://schemas.openxmlformats.org/officeDocument/2006/relationships/notesSlide" Target="/ppt/notesSlides/notesSlide3.xml" Id="R48d1e27919cf4b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ba69d7c614d0c" /><Relationship Type="http://schemas.openxmlformats.org/officeDocument/2006/relationships/notesSlide" Target="/ppt/notesSlides/notesSlide4.xml" Id="Re31c43410d1245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efba296f84509" /><Relationship Type="http://schemas.openxmlformats.org/officeDocument/2006/relationships/notesSlide" Target="/ppt/notesSlides/notesSlide5.xml" Id="R49b4872e204349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2F537-27A8-4D79-B529-4C343C68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8096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01412"/>
                </a:solidFill>
              </a:defRPr>
            </a:pPr>
            <a:r>
              <a:rPr sz="5700" b="1">
                <a:solidFill>
                  <a:srgbClr val="101412"/>
                </a:solidFill>
              </a:rPr>
              <a:t>SPONSORED</a:t>
            </a:r>
          </a:p>
          <a:p xmlns:a="http://schemas.openxmlformats.org/drawingml/2006/main">
            <a:pPr algn="l">
              <a:defRPr sz="5700" b="1">
                <a:solidFill>
                  <a:srgbClr val="101412"/>
                </a:solidFill>
              </a:defRPr>
            </a:pPr>
            <a:r>
              <a:rPr sz="5700" b="1">
                <a:solidFill>
                  <a:srgbClr val="101412"/>
                </a:solidFill>
              </a:rPr>
              <a:t>COMPUTE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DD9AF-E62B-4DB3-B6BB-25547551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E665F"/>
                </a:solidFill>
              </a:defRPr>
            </a:pPr>
            <a:r>
              <a:rPr sz="2175" b="0">
                <a:solidFill>
                  <a:srgbClr val="5E665F"/>
                </a:solidFill>
              </a:rPr>
              <a:t>Tiền tài trợ có ràng buộc mục đích</a:t>
            </a:r>
          </a:p>
          <a:p xmlns:a="http://schemas.openxmlformats.org/drawingml/2006/main">
            <a:pPr algn="l">
              <a:defRPr sz="2175" b="0">
                <a:solidFill>
                  <a:srgbClr val="5E665F"/>
                </a:solidFill>
              </a:defRPr>
            </a:pPr>
            <a:r>
              <a:rPr sz="2175" b="0">
                <a:solidFill>
                  <a:srgbClr val="5E665F"/>
                </a:solidFill>
              </a:rPr>
              <a:t>cho AI coding agent.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4D659-B4B4-4BD8-AEF6-34A008B3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904875"/>
            <a:ext cx="2190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120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2F8FC-FDF1-49ED-8BD1-28F4B5B7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2763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C7F36B"/>
                </a:solidFill>
              </a:defRPr>
            </a:pPr>
            <a:r>
              <a:rPr sz="2700" b="1">
                <a:solidFill>
                  <a:srgbClr val="C7F36B"/>
                </a:solidFill>
              </a:rPr>
              <a:t>XSGD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B99CF-D9EF-4E32-8608-56B692BF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28800"/>
            <a:ext cx="161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→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agent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→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usage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14223-1070-40BD-ADB9-924A961B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673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412"/>
                </a:solidFill>
              </a:defRPr>
            </a:pPr>
            <a:r>
              <a:rPr sz="1350" b="1">
                <a:solidFill>
                  <a:srgbClr val="101412"/>
                </a:solidFill>
              </a:rPr>
              <a:t>Hackathon demo · Avalanche Fuji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D2157A-E068-4D16-A241-2CE8F066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5F"/>
                </a:solidFill>
              </a:defRPr>
            </a:pPr>
            <a:r>
              <a:rPr sz="750" b="0">
                <a:solidFill>
                  <a:srgbClr val="5E665F"/>
                </a:solidFill>
              </a:rPr>
              <a:t>PBM-compatible subset of ERC-7291 · XSGD remains the credit</a:t>
            </a:r>
          </a:p>
        </p:txBody>
      </p:sp>
    </p:spTree>
    <p:extLst>
      <p:ext uri="{BB962C8B-B14F-4D97-AF65-F5344CB8AC3E}">
        <p14:creationId xmlns:p14="http://schemas.microsoft.com/office/powerpoint/2010/main" val="13503804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01AF64-1114-4F48-A301-8D35EB5C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65F"/>
                </a:solidFill>
              </a:defRPr>
            </a:pPr>
            <a:r>
              <a:rPr sz="825" b="1">
                <a:solidFill>
                  <a:srgbClr val="5E665F"/>
                </a:solidFill>
              </a:rPr>
              <a:t>SPONSORED COMPUTE · XSGD / AVALANCHE / x402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53999-9C63-45A2-8149-B94B86C6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65F"/>
                </a:solidFill>
              </a:defRPr>
            </a:pPr>
            <a:r>
              <a:rPr sz="825" b="1">
                <a:solidFill>
                  <a:srgbClr val="5E665F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36DEE-176C-417C-9B94-93821350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32822-B49E-4B79-BE61-569E2FAD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762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412"/>
                </a:solidFill>
              </a:defRPr>
            </a:pPr>
            <a:r>
              <a:rPr sz="3450" b="1">
                <a:solidFill>
                  <a:srgbClr val="101412"/>
                </a:solidFill>
              </a:rPr>
              <a:t>Sponsored credit only works</a:t>
            </a:r>
          </a:p>
          <a:p xmlns:a="http://schemas.openxmlformats.org/drawingml/2006/main">
            <a:pPr algn="l">
              <a:defRPr sz="3450" b="1">
                <a:solidFill>
                  <a:srgbClr val="101412"/>
                </a:solidFill>
              </a:defRPr>
            </a:pPr>
            <a:r>
              <a:rPr sz="3450" b="1">
                <a:solidFill>
                  <a:srgbClr val="101412"/>
                </a:solidFill>
              </a:rPr>
              <a:t>if it cannot become cash.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52A59-73DF-4605-8C0F-B8CE94A5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5F"/>
                </a:solidFill>
              </a:defRPr>
            </a:pPr>
            <a:r>
              <a:rPr sz="1575" b="0">
                <a:solidFill>
                  <a:srgbClr val="5E665F"/>
                </a:solidFill>
              </a:rPr>
              <a:t>A useful grant must answer three questions in code — not in the agent’s context window.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A4C1B-BFCE-4A8F-98CF-9785E055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57550"/>
            <a:ext cx="3143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FB004-C11C-4AF3-B3EC-89268B06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65F"/>
                </a:solidFill>
              </a:defRPr>
            </a:pPr>
            <a:r>
              <a:rPr sz="900" b="1">
                <a:solidFill>
                  <a:srgbClr val="5E665F"/>
                </a:solidFill>
              </a:rPr>
              <a:t>WHO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3CB67-41F4-4F23-834D-9E4F8751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2"/>
                </a:solidFill>
              </a:defRPr>
            </a:pPr>
            <a:r>
              <a:rPr sz="1800" b="1">
                <a:solidFill>
                  <a:srgbClr val="101412"/>
                </a:solidFill>
              </a:rPr>
              <a:t>Is this the approved merchant?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8546A-6C61-4DEC-96EE-4E14616B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5F"/>
                </a:solidFill>
              </a:defRPr>
            </a:pPr>
            <a:r>
              <a:rPr sz="1200" b="0">
                <a:solidFill>
                  <a:srgbClr val="5E665F"/>
                </a:solidFill>
              </a:rPr>
              <a:t>Registry allowlist is the source of truth.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72DB4-509E-41D9-841C-ED5A855F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57550"/>
            <a:ext cx="3143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0DA08-1185-4D5A-8D51-8087FC62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766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65F"/>
                </a:solidFill>
              </a:defRPr>
            </a:pPr>
            <a:r>
              <a:rPr sz="900" b="1">
                <a:solidFill>
                  <a:srgbClr val="5E665F"/>
                </a:solidFill>
              </a:rPr>
              <a:t>HOW MUCH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421623-78CD-424F-9847-A86D3521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290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2"/>
                </a:solidFill>
              </a:defRPr>
            </a:pPr>
            <a:r>
              <a:rPr sz="1800" b="1">
                <a:solidFill>
                  <a:srgbClr val="101412"/>
                </a:solidFill>
              </a:rPr>
              <a:t>Can this call fit the grant?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6783B-F459-475C-8972-27BA1E33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529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5F"/>
                </a:solidFill>
              </a:defRPr>
            </a:pPr>
            <a:r>
              <a:rPr sz="1200" b="0">
                <a:solidFill>
                  <a:srgbClr val="5E665F"/>
                </a:solidFill>
              </a:rPr>
              <a:t>Per-tx, daily, vested and caller caps.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1AEDF4-21ED-438A-9B5E-9D5A774F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57550"/>
            <a:ext cx="3143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FA1E27-43B9-4C5D-8A54-7788EE1F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766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65F"/>
                </a:solidFill>
              </a:defRPr>
            </a:pPr>
            <a:r>
              <a:rPr sz="900" b="1">
                <a:solidFill>
                  <a:srgbClr val="5E665F"/>
                </a:solidFill>
              </a:rPr>
              <a:t>WHEN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A8C26D-BA1D-4F0A-840F-F15842FB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290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2"/>
                </a:solidFill>
              </a:defRPr>
            </a:pPr>
            <a:r>
              <a:rPr sz="1800" b="1">
                <a:solidFill>
                  <a:srgbClr val="101412"/>
                </a:solidFill>
              </a:rPr>
              <a:t>Can the agent spend now?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995C6F-7BB1-49FF-9919-0A59A75A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529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5F"/>
                </a:solidFill>
              </a:defRPr>
            </a:pPr>
            <a:r>
              <a:rPr sz="1200" b="0">
                <a:solidFill>
                  <a:srgbClr val="5E665F"/>
                </a:solidFill>
              </a:rPr>
              <a:t>Expiry, revoke and tranche rules are on-chain.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05B5F0-687A-4DC9-9242-89E79346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5F"/>
                </a:solidFill>
              </a:defRPr>
            </a:pPr>
            <a:r>
              <a:rPr sz="750" b="0">
                <a:solidFill>
                  <a:srgbClr val="5E665F"/>
                </a:solidFill>
              </a:rPr>
              <a:t>The agent receives a bounded payment capability, not a discretionary balance.</a:t>
            </a:r>
          </a:p>
        </p:txBody>
      </p:sp>
    </p:spTree>
    <p:extLst>
      <p:ext uri="{BB962C8B-B14F-4D97-AF65-F5344CB8AC3E}">
        <p14:creationId xmlns:p14="http://schemas.microsoft.com/office/powerpoint/2010/main" val="4386839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329EC3-B3AE-43D6-BA32-6DDBA099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65F"/>
                </a:solidFill>
              </a:defRPr>
            </a:pPr>
            <a:r>
              <a:rPr sz="825" b="1">
                <a:solidFill>
                  <a:srgbClr val="5E665F"/>
                </a:solidFill>
              </a:rPr>
              <a:t>SPONSORED COMPUTE · XSGD / AVALANCHE / x402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79EA7-EAC4-4AEF-8CD0-8A6D9500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65F"/>
                </a:solidFill>
              </a:defRPr>
            </a:pPr>
            <a:r>
              <a:rPr sz="825" b="1">
                <a:solidFill>
                  <a:srgbClr val="5E665F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B9015-F251-423C-A978-F7C69EFE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7F538-D147-497C-993C-65E1F12E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2"/>
                </a:solidFill>
              </a:defRPr>
            </a:pPr>
            <a:r>
              <a:rPr sz="3225" b="1">
                <a:solidFill>
                  <a:srgbClr val="101412"/>
                </a:solidFill>
              </a:rPr>
              <a:t>One flow. Two enforcement layers.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376CB-455B-4313-98D3-87D7F781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5F"/>
                </a:solidFill>
              </a:defRPr>
            </a:pPr>
            <a:r>
              <a:rPr sz="1500" b="0">
                <a:solidFill>
                  <a:srgbClr val="5E665F"/>
                </a:solidFill>
              </a:rPr>
              <a:t>The client rejects unsafe challenges early; the contract makes the same rule irreversible.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ADD43-F63D-42A1-9539-6DF6E67F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81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4E67A-D3C6-4C33-BD5B-F0577DDB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381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5394F0-0D23-40D5-915D-24FCD0F2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81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DCF80-33CD-4413-9061-19FE932F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381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973C1-A78C-4252-9B84-69DE4A05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5125"/>
            <a:ext cx="1619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8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A1BE19-9D3B-47A8-84AF-B92BFA38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242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E665F"/>
                </a:solidFill>
              </a:defRPr>
            </a:pPr>
            <a:r>
              <a:rPr sz="900" b="1">
                <a:solidFill>
                  <a:srgbClr val="5E665F"/>
                </a:solidFill>
              </a:rPr>
              <a:t>SPONSOR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321AA3-4057-483E-B24B-14A1236B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2425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412"/>
                </a:solidFill>
              </a:defRPr>
            </a:pPr>
            <a:r>
              <a:rPr sz="1575" b="1">
                <a:solidFill>
                  <a:srgbClr val="101412"/>
                </a:solidFill>
              </a:rPr>
              <a:t>funds</a:t>
            </a:r>
          </a:p>
          <a:p xmlns:a="http://schemas.openxmlformats.org/drawingml/2006/main">
            <a:pPr algn="ctr">
              <a:defRPr sz="1575" b="1">
                <a:solidFill>
                  <a:srgbClr val="101412"/>
                </a:solidFill>
              </a:defRPr>
            </a:pPr>
            <a:r>
              <a:rPr sz="1575" b="1">
                <a:solidFill>
                  <a:srgbClr val="101412"/>
                </a:solidFill>
              </a:rPr>
              <a:t>campaign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BD3149-529A-4318-B047-1B0340DE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05125"/>
            <a:ext cx="1619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8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BE231-C762-4FDF-81E1-8705D635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242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E665F"/>
                </a:solidFill>
              </a:defRPr>
            </a:pPr>
            <a:r>
              <a:rPr sz="900" b="1">
                <a:solidFill>
                  <a:srgbClr val="5E665F"/>
                </a:solidFill>
              </a:rPr>
              <a:t>GRANT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FB4539-40B5-4ED2-AFD0-9FBBF3EC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2425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412"/>
                </a:solidFill>
              </a:defRPr>
            </a:pPr>
            <a:r>
              <a:rPr sz="1575" b="1">
                <a:solidFill>
                  <a:srgbClr val="101412"/>
                </a:solidFill>
              </a:rPr>
              <a:t>vested XSGD</a:t>
            </a:r>
          </a:p>
          <a:p xmlns:a="http://schemas.openxmlformats.org/drawingml/2006/main">
            <a:pPr algn="ctr">
              <a:defRPr sz="1575" b="1">
                <a:solidFill>
                  <a:srgbClr val="101412"/>
                </a:solidFill>
              </a:defRPr>
            </a:pPr>
            <a:r>
              <a:rPr sz="1575" b="1">
                <a:solidFill>
                  <a:srgbClr val="101412"/>
                </a:solidFill>
              </a:rPr>
              <a:t>+ caps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8D0146-214F-492D-9E8A-A888452D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05125"/>
            <a:ext cx="1619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C7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7C45F4-9A5F-477F-9C56-0CB5F0BC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1242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E665F"/>
                </a:solidFill>
              </a:defRPr>
            </a:pPr>
            <a:r>
              <a:rPr sz="900" b="1">
                <a:solidFill>
                  <a:srgbClr val="5E665F"/>
                </a:solidFill>
              </a:rPr>
              <a:t>CHECKPOINT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2713B-A711-4188-8D58-F86E3EC8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52425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412"/>
                </a:solidFill>
              </a:defRPr>
            </a:pPr>
            <a:r>
              <a:rPr sz="1575" b="1">
                <a:solidFill>
                  <a:srgbClr val="101412"/>
                </a:solidFill>
              </a:rPr>
              <a:t>allowlist</a:t>
            </a:r>
          </a:p>
          <a:p xmlns:a="http://schemas.openxmlformats.org/drawingml/2006/main">
            <a:pPr algn="ctr">
              <a:defRPr sz="1575" b="1">
                <a:solidFill>
                  <a:srgbClr val="101412"/>
                </a:solidFill>
              </a:defRPr>
            </a:pPr>
            <a:r>
              <a:rPr sz="1575" b="1">
                <a:solidFill>
                  <a:srgbClr val="101412"/>
                </a:solidFill>
              </a:rPr>
              <a:t>+ max amount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5CF6CD-A6AE-4A71-A655-F9E4A657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905125"/>
            <a:ext cx="1619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8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33EB3B-6941-4319-890C-9A294BC7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242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E665F"/>
                </a:solidFill>
              </a:defRPr>
            </a:pPr>
            <a:r>
              <a:rPr sz="900" b="1">
                <a:solidFill>
                  <a:srgbClr val="5E665F"/>
                </a:solidFill>
              </a:rPr>
              <a:t>EIP-3009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567FD9-7980-4C3C-B008-FFDC3DE4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2425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412"/>
                </a:solidFill>
              </a:defRPr>
            </a:pPr>
            <a:r>
              <a:rPr sz="1575" b="1">
                <a:solidFill>
                  <a:srgbClr val="101412"/>
                </a:solidFill>
              </a:rPr>
              <a:t>signed</a:t>
            </a:r>
          </a:p>
          <a:p xmlns:a="http://schemas.openxmlformats.org/drawingml/2006/main">
            <a:pPr algn="ctr">
              <a:defRPr sz="1575" b="1">
                <a:solidFill>
                  <a:srgbClr val="101412"/>
                </a:solidFill>
              </a:defRPr>
            </a:pPr>
            <a:r>
              <a:rPr sz="1575" b="1">
                <a:solidFill>
                  <a:srgbClr val="101412"/>
                </a:solidFill>
              </a:rPr>
              <a:t>transfer</a:t>
            </a:r>
          </a:p>
          <a:p xmlns:a="http://schemas.openxmlformats.org/drawingml/2006/main">
            <a:pPr algn="ctr">
              <a:defRPr sz="1575" b="1">
                <a:solidFill>
                  <a:srgbClr val="101412"/>
                </a:solidFill>
              </a:defRPr>
            </a:pPr>
            <a:r>
              <a:rPr sz="1575" b="1">
                <a:solidFill>
                  <a:srgbClr val="101412"/>
                </a:solidFill>
              </a:rPr>
              <a:t>approval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5382D8-95DD-4A60-BBF4-6AD9A409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05125"/>
            <a:ext cx="1619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8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07E067-63A7-4135-8DD0-0D7DF50F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242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E665F"/>
                </a:solidFill>
              </a:defRPr>
            </a:pPr>
            <a:r>
              <a:rPr sz="900" b="1">
                <a:solidFill>
                  <a:srgbClr val="5E665F"/>
                </a:solidFill>
              </a:rPr>
              <a:t>MERCHANT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DA1242-545F-4C8E-9428-F67B01DE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52425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412"/>
                </a:solidFill>
              </a:defRPr>
            </a:pPr>
            <a:r>
              <a:rPr sz="1575" b="1">
                <a:solidFill>
                  <a:srgbClr val="101412"/>
                </a:solidFill>
              </a:rPr>
              <a:t>x402 API</a:t>
            </a:r>
          </a:p>
          <a:p xmlns:a="http://schemas.openxmlformats.org/drawingml/2006/main">
            <a:pPr algn="ctr">
              <a:defRPr sz="1575" b="1">
                <a:solidFill>
                  <a:srgbClr val="101412"/>
                </a:solidFill>
              </a:defRPr>
            </a:pPr>
            <a:r>
              <a:rPr sz="1575" b="1">
                <a:solidFill>
                  <a:srgbClr val="101412"/>
                </a:solidFill>
              </a:rPr>
              <a:t>returns 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685386-857D-4314-BF1E-322F080B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99631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20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67683C-1257-4475-8896-2F8AD220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24475"/>
            <a:ext cx="947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ON-CHAIN GUARD  ·  wrong merchant / over cap / expired / revoked  →  REVERT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F51EEE-C9E3-42E2-BB5A-80799AF2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5F"/>
                </a:solidFill>
              </a:defRPr>
            </a:pPr>
            <a:r>
              <a:rPr sz="750" b="0">
                <a:solidFill>
                  <a:srgbClr val="5E665F"/>
                </a:solidFill>
              </a:rPr>
              <a:t>GrantManager + MerchantRegistry are the compliance boundary; MCP never exposes unwrap or sign.</a:t>
            </a:r>
          </a:p>
        </p:txBody>
      </p:sp>
    </p:spTree>
    <p:extLst>
      <p:ext uri="{BB962C8B-B14F-4D97-AF65-F5344CB8AC3E}">
        <p14:creationId xmlns:p14="http://schemas.microsoft.com/office/powerpoint/2010/main" val="13881221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B0859E-2055-44A0-AC54-3797214D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65F"/>
                </a:solidFill>
              </a:defRPr>
            </a:pPr>
            <a:r>
              <a:rPr sz="825" b="1">
                <a:solidFill>
                  <a:srgbClr val="5E665F"/>
                </a:solidFill>
              </a:rPr>
              <a:t>SPONSORED COMPUTE · XSGD / AVALANCHE / x402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94D97-9BB3-48D5-94D1-01FF435E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65F"/>
                </a:solidFill>
              </a:defRPr>
            </a:pPr>
            <a:r>
              <a:rPr sz="825" b="1">
                <a:solidFill>
                  <a:srgbClr val="5E665F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065D9-6A64-41FF-89D5-1FDA123D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D811E-286B-442B-BDE3-D91181C8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2"/>
                </a:solidFill>
              </a:defRPr>
            </a:pPr>
            <a:r>
              <a:rPr sz="3225" b="1">
                <a:solidFill>
                  <a:srgbClr val="101412"/>
                </a:solidFill>
              </a:rPr>
              <a:t>The happy path settled on Fuji.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53B48-8E48-42BF-8397-1B478D08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5F"/>
                </a:solidFill>
              </a:defRPr>
            </a:pPr>
            <a:r>
              <a:rPr sz="1500" b="0">
                <a:solidFill>
                  <a:srgbClr val="5E665F"/>
                </a:solidFill>
              </a:rPr>
              <a:t>One real 0.12 XSGD API call: Grant → unwrap → EIP-3009 → self-relay → HTTP 200.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F0B8F-97FA-4156-BB2B-F276F7F2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6858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120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ABA98-4F76-43E5-9E54-5B7AA1B6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C7F36B"/>
                </a:solidFill>
              </a:defRPr>
            </a:pPr>
            <a:r>
              <a:rPr sz="3450" b="1">
                <a:solidFill>
                  <a:srgbClr val="C7F36B"/>
                </a:solidFill>
              </a:rPr>
              <a:t>0.12 XSGD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289C1-1DE4-4453-A062-FBDBA512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settled for SupaDB API usage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CE1D4-4973-4006-80E9-7F763791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AD8D0"/>
                </a:solidFill>
              </a:defRPr>
            </a:pPr>
            <a:r>
              <a:rPr sz="1200" b="0">
                <a:solidFill>
                  <a:srgbClr val="CAD8D0"/>
                </a:solidFill>
              </a:rPr>
              <a:t>Fuji tx 0x834a…d1153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4DFC6-D4A2-4163-9027-DD0D4110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33337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8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29A8F-4DE5-44F7-9AC3-5A0334BE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412"/>
                </a:solidFill>
              </a:defRPr>
            </a:pPr>
            <a:r>
              <a:rPr sz="2400" b="1">
                <a:solidFill>
                  <a:srgbClr val="101412"/>
                </a:solidFill>
              </a:rPr>
              <a:t>14 / 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09D36-EE53-413F-8BE8-802807EF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5F"/>
                </a:solidFill>
              </a:defRPr>
            </a:pPr>
            <a:r>
              <a:rPr sz="1200" b="0">
                <a:solidFill>
                  <a:srgbClr val="5E665F"/>
                </a:solidFill>
              </a:rPr>
              <a:t>checkpoint cases 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88D340-0FEF-4A13-8522-2D5CFB60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62375"/>
            <a:ext cx="33337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8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F0DF55-AF9E-40D4-BB5E-261EF796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00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412"/>
                </a:solidFill>
              </a:defRPr>
            </a:pPr>
            <a:r>
              <a:rPr sz="2400" b="1">
                <a:solidFill>
                  <a:srgbClr val="101412"/>
                </a:solidFill>
              </a:rPr>
              <a:t>8 / 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A22C77-FB8B-499B-B5FE-CC51D58B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481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5F"/>
                </a:solidFill>
              </a:defRPr>
            </a:pPr>
            <a:r>
              <a:rPr sz="1200" b="0">
                <a:solidFill>
                  <a:srgbClr val="5E665F"/>
                </a:solidFill>
              </a:rPr>
              <a:t>contract tests 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BB1468-29CF-4121-BB68-C9AD38E2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5F"/>
                </a:solidFill>
              </a:defRPr>
            </a:pPr>
            <a:r>
              <a:rPr sz="750" b="0">
                <a:solidFill>
                  <a:srgbClr val="5E665F"/>
                </a:solidFill>
              </a:rPr>
              <a:t>Evidence from the live Fuji settlement and local test suite on 15 Aug 2026.</a:t>
            </a:r>
          </a:p>
        </p:txBody>
      </p:sp>
    </p:spTree>
    <p:extLst>
      <p:ext uri="{BB962C8B-B14F-4D97-AF65-F5344CB8AC3E}">
        <p14:creationId xmlns:p14="http://schemas.microsoft.com/office/powerpoint/2010/main" val="13292951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20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59E64-5F32-4B68-80EC-DFDE8ECC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8286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THE DEMO IS NOT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THAT AN AGENT CAN PAY.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34492-5051-47C0-A0F3-D485D837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7F36B"/>
                </a:solidFill>
              </a:defRPr>
            </a:pPr>
            <a:r>
              <a:rPr sz="2400" b="1">
                <a:solidFill>
                  <a:srgbClr val="C7F36B"/>
                </a:solidFill>
              </a:rPr>
              <a:t>It is that the agent cannot spend</a:t>
            </a:r>
          </a:p>
          <a:p xmlns:a="http://schemas.openxmlformats.org/drawingml/2006/main">
            <a:pPr algn="l">
              <a:defRPr sz="2400" b="1">
                <a:solidFill>
                  <a:srgbClr val="C7F36B"/>
                </a:solidFill>
              </a:defRPr>
            </a:pPr>
            <a:r>
              <a:rPr sz="2400" b="1">
                <a:solidFill>
                  <a:srgbClr val="C7F36B"/>
                </a:solidFill>
              </a:rPr>
              <a:t>outside the sponsor’s intent.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B96EA-B887-470B-86DF-B2B2BF5E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9D4CC"/>
                </a:solidFill>
              </a:defRPr>
            </a:pPr>
            <a:r>
              <a:rPr sz="1500" b="0">
                <a:solidFill>
                  <a:srgbClr val="C9D4CC"/>
                </a:solidFill>
              </a:rPr>
              <a:t>Approved merchant  ·  bounded usage  ·  hard stop when credit ends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78CA5-E9C4-459F-89D5-0F8EA393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4000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7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49D48-F745-4DE7-9E03-C77BDAD6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2019"/>
                </a:solidFill>
              </a:defRPr>
            </a:pPr>
            <a:r>
              <a:rPr sz="1425" b="1">
                <a:solidFill>
                  <a:srgbClr val="112019"/>
                </a:solidFill>
              </a:rPr>
              <a:t>XSGD IS THE CREDIT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76979-C82D-4CAA-B333-DC27090D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D4CC"/>
                </a:solidFill>
              </a:defRPr>
            </a:pPr>
            <a:r>
              <a:rPr sz="900" b="1">
                <a:solidFill>
                  <a:srgbClr val="C9D4CC"/>
                </a:solidFill>
              </a:rPr>
              <a:t>Sponsored Compute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9FDF1-FE5E-4881-B362-F3CC8FEC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D4CC"/>
                </a:solidFill>
              </a:defRPr>
            </a:pPr>
            <a:r>
              <a:rPr sz="900" b="1">
                <a:solidFill>
                  <a:srgbClr val="C9D4C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412765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2026-08-15T04:38:41.9070000Z</dcterms:created>
  <dcterms:modified xsi:type="dcterms:W3CDTF">2026-08-15T04:38:41.9070000Z</dcterms:modified>
</coreProperties>
</file>